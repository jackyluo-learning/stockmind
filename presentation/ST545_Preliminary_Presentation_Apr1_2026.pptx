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Default Extension="jpg" ContentType="image/jpeg"/>
  <Override PartName="/ppt/presentation.xml" ContentType="application/vnd.openxmlformats-officedocument.presentationml.presentation.main+xml"/>
  <Override PartName="/docProps/core.xml" ContentType="application/vnd.openxmlformats-package.core-properties+xml"/>
  <Override PartName="/docProps/app.xml" ContentType="application/vnd.openxmlformats-officedocument.extended-properti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id="2147483649"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a:defRPr sz="1800">
        <a:solidFill>
          <a:schemeClr val="tx1"/>
        </a:solidFill>
      </a:defRPr>
    </a:lvl1pPr>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spTree>
      <p:nvGrpSpPr>
        <p:cNvPr id="1" name="Notes Master"/>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Master>
</file>

<file path=ppt/notesSlides/_rels/notesSlide1.xml.rels><?xml version="1.0" encoding="UTF-8" standalone="yes"?><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name="">
    <p:spTree>
      <p:nvGrpSpPr>
        <p:cNvPr id="1" name=""/>
        <p:cNvGrpSpPr/>
        <p:nvPr/>
      </p:nvGrpSpPr>
      <p:grpSpPr>
        <a:xfrm>
          <a:off x="0" y="0"/>
          <a:ext cx="0" cy="0"/>
          <a:chOff x="0" y="0"/>
          <a:chExt cx="0" cy="0"/>
        </a:xfrm>
      </p:grpSpPr>
      <p:sp>
        <p:nvSpPr>
          <p:cNvPr id="3" name="Speaker Notes"/>
          <p:cNvSpPr/>
          <p:nvPr/>
        </p:nvSpPr>
        <p:spPr/>
        <p:txBody>
          <a:bodyPr/>
          <a:p>
            <a:r>
              <a:t>Hi everyone. This project asks a simple question: can we predict next-day stock direction better if we combine market data with financial news, instead of using either one alone?</a:t>
            </a:r>
          </a:p>
          <a:p>
            <a:r>
              <a:t>A second goal is to learn which publishers matter from the data itself, instead of assigning source weights by hand.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name="">
    <p:spTree>
      <p:nvGrpSpPr>
        <p:cNvPr id="1" name=""/>
        <p:cNvGrpSpPr/>
        <p:nvPr/>
      </p:nvGrpSpPr>
      <p:grpSpPr>
        <a:xfrm>
          <a:off x="0" y="0"/>
          <a:ext cx="0" cy="0"/>
          <a:chOff x="0" y="0"/>
          <a:chExt cx="0" cy="0"/>
        </a:xfrm>
      </p:grpSpPr>
      <p:sp>
        <p:nvSpPr>
          <p:cNvPr id="3" name="Speaker Notes"/>
          <p:cNvSpPr/>
          <p:nvPr/>
        </p:nvSpPr>
        <p:spPr/>
        <p:txBody>
          <a:bodyPr/>
          <a:p>
            <a:r>
              <a:t>There are really three questions behind the project. First, can publisher importance be learned directly from data?</a:t>
            </a:r>
          </a:p>
          <a:p>
            <a:r>
              <a:t>Second, does FinBERT actually beat a simpler TF-IDF baseline here? Third, when I combine sentiment with market and fundamental variables in a nonlinear model, do I get useful extra signal, and can SHAP still show where that signal is coming from?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name="">
    <p:spTree>
      <p:nvGrpSpPr>
        <p:cNvPr id="1" name=""/>
        <p:cNvGrpSpPr/>
        <p:nvPr/>
      </p:nvGrpSpPr>
      <p:grpSpPr>
        <a:xfrm>
          <a:off x="0" y="0"/>
          <a:ext cx="0" cy="0"/>
          <a:chOff x="0" y="0"/>
          <a:chExt cx="0" cy="0"/>
        </a:xfrm>
      </p:grpSpPr>
      <p:sp>
        <p:nvSpPr>
          <p:cNvPr id="3" name="Speaker Notes"/>
          <p:cNvSpPr/>
          <p:nvPr/>
        </p:nvSpPr>
        <p:spPr/>
        <p:txBody>
          <a:bodyPr/>
          <a:p>
            <a:r>
              <a:t>The data pipeline is pretty straightforward. Alpaca gives me daily bars and Benzinga news, and Finnhub adds PE fundamentals plus extra news sources like Yahoo and SeekingAlpha.</a:t>
            </a:r>
          </a:p>
          <a:p>
            <a:r>
              <a:t>Right now the cache has 46,461 articles across 10 U.S. tickers, which becomes 2,390 merged daily observations. The prediction task is: use day t information to predict the direction on day t plus 1.</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name="">
    <p:spTree>
      <p:nvGrpSpPr>
        <p:cNvPr id="1" name=""/>
        <p:cNvGrpSpPr/>
        <p:nvPr/>
      </p:nvGrpSpPr>
      <p:grpSpPr>
        <a:xfrm>
          <a:off x="0" y="0"/>
          <a:ext cx="0" cy="0"/>
          <a:chOff x="0" y="0"/>
          <a:chExt cx="0" cy="0"/>
        </a:xfrm>
      </p:grpSpPr>
      <p:sp>
        <p:nvSpPr>
          <p:cNvPr id="3" name="Speaker Notes"/>
          <p:cNvSpPr/>
          <p:nvPr/>
        </p:nvSpPr>
        <p:spPr/>
        <p:txBody>
          <a:bodyPr/>
          <a:p>
            <a:r>
              <a:t>The modeling pipeline grew in stages rather than all at once. I started with TF-IDF and FinBERT, then estimated ticker-specific media weights with regularized models.</a:t>
            </a:r>
          </a:p>
          <a:p>
            <a:r>
              <a:t>After that I reduced the FinBERT embeddings with PCA, tuned XGBoost, and used SHAP for interpretation. The latest version, v13, also adds DQS gating so noisy news days get down-weighted before the final hybrid prediction step.</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name="">
    <p:spTree>
      <p:nvGrpSpPr>
        <p:cNvPr id="1" name=""/>
        <p:cNvGrpSpPr/>
        <p:nvPr/>
      </p:nvGrpSpPr>
      <p:grpSpPr>
        <a:xfrm>
          <a:off x="0" y="0"/>
          <a:ext cx="0" cy="0"/>
          <a:chOff x="0" y="0"/>
          <a:chExt cx="0" cy="0"/>
        </a:xfrm>
      </p:grpSpPr>
      <p:sp>
        <p:nvSpPr>
          <p:cNvPr id="3" name="Speaker Notes"/>
          <p:cNvSpPr/>
          <p:nvPr/>
        </p:nvSpPr>
        <p:spPr/>
        <p:txBody>
          <a:bodyPr/>
          <a:p>
            <a:r>
              <a:t>So far the results are mixed, but they are still useful. FinBERT is only a little better than TF-IDF on average, so better text representation alone does not solve the problem.</a:t>
            </a:r>
          </a:p>
          <a:p>
            <a:r>
              <a:t>At the same time, SHAP says sentiment-related features explain about 80 percent of model importance on average, so news is clearly contributing signal. The best saved hybrid AUC is around 0.60, and the strongest single feature block right now is the keyword-based one.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name="">
    <p:spTree>
      <p:nvGrpSpPr>
        <p:cNvPr id="1" name=""/>
        <p:cNvGrpSpPr/>
        <p:nvPr/>
      </p:nvGrpSpPr>
      <p:grpSpPr>
        <a:xfrm>
          <a:off x="0" y="0"/>
          <a:ext cx="0" cy="0"/>
          <a:chOff x="0" y="0"/>
          <a:chExt cx="0" cy="0"/>
        </a:xfrm>
      </p:grpSpPr>
      <p:sp>
        <p:nvSpPr>
          <p:cNvPr id="3" name="Speaker Notes"/>
          <p:cNvSpPr/>
          <p:nvPr/>
        </p:nvSpPr>
        <p:spPr/>
        <p:txBody>
          <a:bodyPr/>
          <a:p>
            <a:r>
              <a:t>The main thing I have learned is that finding signal is easier than fusing signal. In the current v13 results, the full hybrid model is not yet consistently better than the market-only or keyword-only baselines.</a:t>
            </a:r>
          </a:p>
          <a:p>
            <a:r>
              <a:t>But the LMT ablation is encouraging: an MLP reaches 0.6782 AUC and beats the tree-based models by a clear margin. That suggests the next improvement probably needs a more flexible fusion model, or a more modular expert-style approach.</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name="">
    <p:spTree>
      <p:nvGrpSpPr>
        <p:cNvPr id="1" name=""/>
        <p:cNvGrpSpPr/>
        <p:nvPr/>
      </p:nvGrpSpPr>
      <p:grpSpPr>
        <a:xfrm>
          <a:off x="0" y="0"/>
          <a:ext cx="0" cy="0"/>
          <a:chOff x="0" y="0"/>
          <a:chExt cx="0" cy="0"/>
        </a:xfrm>
      </p:grpSpPr>
      <p:sp>
        <p:nvSpPr>
          <p:cNvPr id="3" name="Speaker Notes"/>
          <p:cNvSpPr/>
          <p:nvPr/>
        </p:nvSpPr>
        <p:spPr/>
        <p:txBody>
          <a:bodyPr/>
          <a:p>
            <a:r>
              <a:t>By the end of the project, I want to deliver a cleaned multimodal dataset, a reproducible pipeline, a comparative evaluation, and interpretation through SHAP and ablation.</a:t>
            </a:r>
          </a:p>
          <a:p>
            <a:r>
              <a:t>If time permits, I may also package the results into a lightweight dashboard. The main next step is to make the hybrid model consistently outperform the simpler baselines, not just occasionally.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1/1/2000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US"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1/1/2000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1/1/2000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1/1/2000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dirty="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1/1/2000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1/1/2000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1/1/2000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1/1/2000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1/1/2000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1/1/2000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dirty="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1/1/2000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prstGeom>
        </p:spPr>
        <p:txBody>
          <a:bodyPr vert="horz" lIns="91440" tIns="45720" rIns="91440" bIns="45720" rtlCol="0" anchor="ctr">
            <a:normAutofit/>
          </a:bodyPr>
          <a:lstStyle/>
          <a:p>
            <a:r>
              <a:rPr lang="en-US" dirty="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US" dirty="0"/>
          </a:p>
        </p:txBody>
      </p:sp>
      <p:sp>
        <p:nvSpPr>
          <p:cNvPr id="4" name="Date Placeholder 3"/>
          <p:cNvSpPr>
            <a:spLocks noGrp="1"/>
          </p:cNvSpPr>
          <p:nvPr>
            <p:ph type="dt" sz="half" idx="2"/>
          </p:nvPr>
        </p:nvSpPr>
        <p:spPr>
          <a:xfrm>
            <a:off x="838200" y="6356350"/>
            <a:ext cx="2743200" cy="365125"/>
          </a:xfrm>
          <a:prstGeom prst="rec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1/1/2000</a:t>
            </a:fld>
            <a:endParaRPr lang="en-US" dirty="0"/>
          </a:p>
        </p:txBody>
      </p:sp>
      <p:sp>
        <p:nvSpPr>
          <p:cNvPr id="5" name="Footer Placeholder 4"/>
          <p:cNvSpPr>
            <a:spLocks noGrp="1"/>
          </p:cNvSpPr>
          <p:nvPr>
            <p:ph type="ftr" sz="quarter" idx="3"/>
          </p:nvPr>
        </p:nvSpPr>
        <p:spPr>
          <a:xfrm>
            <a:off x="4038600" y="6356350"/>
            <a:ext cx="4114800" cy="365125"/>
          </a:xfrm>
          <a:prstGeom prst="rec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png" /><Relationship Id="rId3" Type="http://schemas.openxmlformats.org/officeDocument/2006/relationships/notesSlide" Target="../notesSlides/notesSlide3.xml" /></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2.png" /><Relationship Id="rId3" Type="http://schemas.openxmlformats.org/officeDocument/2006/relationships/notesSlide" Target="../notesSlides/notesSlide5.xml" /></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png" /><Relationship Id="rId3" Type="http://schemas.openxmlformats.org/officeDocument/2006/relationships/notesSlide" Target="../notesSlides/notesSlide6.xml" /></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0E2841"/>
          </a:solidFill>
          <a:ln>
            <a:noFill/>
          </a:ln>
        </p:spPr>
        <p:txBody>
          <a:bodyPr/>
          <a:lstStyle/>
          <a:p/>
        </p:txBody>
      </p:sp>
      <p:sp>
        <p:nvSpPr>
          <p:cNvPr id="3" name="Shape 3"/>
          <p:cNvSpPr/>
          <p:nvPr/>
        </p:nvSpPr>
        <p:spPr>
          <a:xfrm>
            <a:off x="731520" y="1051560"/>
            <a:ext cx="3840480" cy="91440"/>
          </a:xfrm>
          <a:prstGeom prst="rect">
            <a:avLst/>
          </a:prstGeom>
          <a:solidFill>
            <a:srgbClr val="E97132"/>
          </a:solidFill>
          <a:ln>
            <a:noFill/>
          </a:ln>
        </p:spPr>
        <p:txBody>
          <a:bodyPr/>
          <a:lstStyle/>
          <a:p/>
        </p:txBody>
      </p:sp>
      <p:sp>
        <p:nvSpPr>
          <p:cNvPr id="4" name="Shape 4"/>
          <p:cNvSpPr/>
          <p:nvPr/>
        </p:nvSpPr>
        <p:spPr>
          <a:xfrm>
            <a:off x="731520" y="1216152"/>
            <a:ext cx="2011680" cy="91440"/>
          </a:xfrm>
          <a:prstGeom prst="rect">
            <a:avLst/>
          </a:prstGeom>
          <a:solidFill>
            <a:srgbClr val="156082"/>
          </a:solidFill>
          <a:ln>
            <a:noFill/>
          </a:ln>
        </p:spPr>
        <p:txBody>
          <a:bodyPr/>
          <a:lstStyle/>
          <a:p/>
        </p:txBody>
      </p:sp>
      <p:sp>
        <p:nvSpPr>
          <p:cNvPr id="5" name="TextBox 5"/>
          <p:cNvSpPr txBox="1"/>
          <p:nvPr/>
        </p:nvSpPr>
        <p:spPr>
          <a:xfrm>
            <a:off x="868680" y="1508760"/>
            <a:ext cx="9966960" cy="1828800"/>
          </a:xfrm>
          <a:prstGeom prst="rect">
            <a:avLst/>
          </a:prstGeom>
          <a:noFill/>
          <a:ln>
            <a:noFill/>
          </a:ln>
        </p:spPr>
        <p:txBody>
          <a:bodyPr wrap="square" anchor="t" lIns="54864" tIns="54864" rIns="54864" bIns="54864"/>
          <a:lstStyle/>
          <a:p>
            <a:pPr algn="l"/>
            <a:r>
              <a:rPr lang="en-US" sz="3000" b="1">
                <a:solidFill>
                  <a:srgbClr val="FFFFFF"/>
                </a:solidFill>
                <a:latin typeface="Aptos Display"/>
              </a:rPr>
              <a:t>Predictive Modeling of Equity Trends via Data-Driven</a:t>
            </a:r>
            <a:endParaRPr lang="en-US" sz="3000"/>
          </a:p>
          <a:p>
            <a:pPr algn="l"/>
            <a:r>
              <a:rPr lang="en-US" sz="3000" b="1">
                <a:solidFill>
                  <a:srgbClr val="FFFFFF"/>
                </a:solidFill>
                <a:latin typeface="Aptos Display"/>
              </a:rPr>
              <a:t>Media Weighting and Nonlinear Interaction Analysis</a:t>
            </a:r>
            <a:endParaRPr lang="en-US" sz="3000"/>
          </a:p>
        </p:txBody>
      </p:sp>
      <p:sp>
        <p:nvSpPr>
          <p:cNvPr id="6" name="TextBox 6"/>
          <p:cNvSpPr txBox="1"/>
          <p:nvPr/>
        </p:nvSpPr>
        <p:spPr>
          <a:xfrm>
            <a:off x="896112" y="3977640"/>
            <a:ext cx="8138160" cy="1463040"/>
          </a:xfrm>
          <a:prstGeom prst="rect">
            <a:avLst/>
          </a:prstGeom>
          <a:noFill/>
          <a:ln>
            <a:noFill/>
          </a:ln>
        </p:spPr>
        <p:txBody>
          <a:bodyPr wrap="square" anchor="t" lIns="54864" tIns="54864" rIns="54864" bIns="54864"/>
          <a:lstStyle/>
          <a:p>
            <a:pPr algn="l"/>
            <a:r>
              <a:rPr lang="en-US" sz="1800">
                <a:solidFill>
                  <a:srgbClr val="DDE6ED"/>
                </a:solidFill>
                <a:latin typeface="Aptos"/>
              </a:rPr>
              <a:t>Jacky Luo</a:t>
            </a:r>
            <a:endParaRPr lang="en-US" sz="1800"/>
          </a:p>
          <a:p>
            <a:pPr algn="l"/>
            <a:r>
              <a:rPr lang="en-US" sz="1800">
                <a:solidFill>
                  <a:srgbClr val="DDE6ED"/>
                </a:solidFill>
                <a:latin typeface="Aptos"/>
              </a:rPr>
              <a:t>ST 545 Modern Statistical Learning</a:t>
            </a:r>
            <a:endParaRPr lang="en-US" sz="1800"/>
          </a:p>
          <a:p>
            <a:pPr algn="l"/>
            <a:r>
              <a:rPr lang="en-US" sz="1800">
                <a:solidFill>
                  <a:srgbClr val="DDE6ED"/>
                </a:solidFill>
                <a:latin typeface="Aptos"/>
              </a:rPr>
              <a:t>Preliminary project presentation | April 1, 2026</a:t>
            </a:r>
            <a:endParaRPr lang="en-US" sz="1800"/>
          </a:p>
          <a:p>
            <a:pPr algn="l"/>
            <a:r>
              <a:rPr lang="en-US" sz="1800">
                <a:solidFill>
                  <a:srgbClr val="DDE6ED"/>
                </a:solidFill>
                <a:latin typeface="Aptos"/>
              </a:rPr>
              <a:t>Goal: predict next-day stock direction from market data, fundamentals, and financial news</a:t>
            </a:r>
            <a:endParaRPr lang="en-US" sz="1800"/>
          </a:p>
        </p:txBody>
      </p:sp>
      <p:sp>
        <p:nvSpPr>
          <p:cNvPr id="7" name="Shape 7"/>
          <p:cNvSpPr/>
          <p:nvPr/>
        </p:nvSpPr>
        <p:spPr>
          <a:xfrm>
            <a:off x="9098280" y="5440680"/>
            <a:ext cx="2331720" cy="566928"/>
          </a:xfrm>
          <a:prstGeom prst="roundRect">
            <a:avLst/>
          </a:prstGeom>
          <a:solidFill>
            <a:srgbClr val="156082"/>
          </a:solidFill>
          <a:ln>
            <a:noFill/>
          </a:ln>
        </p:spPr>
        <p:txBody>
          <a:bodyPr/>
          <a:lstStyle/>
          <a:p/>
        </p:txBody>
      </p:sp>
      <p:sp>
        <p:nvSpPr>
          <p:cNvPr id="8" name="TextBox 8"/>
          <p:cNvSpPr txBox="1"/>
          <p:nvPr/>
        </p:nvSpPr>
        <p:spPr>
          <a:xfrm>
            <a:off x="9217152" y="5532120"/>
            <a:ext cx="2057400" cy="365760"/>
          </a:xfrm>
          <a:prstGeom prst="rect">
            <a:avLst/>
          </a:prstGeom>
          <a:noFill/>
          <a:ln>
            <a:noFill/>
          </a:ln>
        </p:spPr>
        <p:txBody>
          <a:bodyPr wrap="square" anchor="t" lIns="54864" tIns="54864" rIns="54864" bIns="54864"/>
          <a:lstStyle/>
          <a:p>
            <a:pPr algn="ctr"/>
            <a:r>
              <a:rPr lang="en-US" sz="1400" b="1">
                <a:solidFill>
                  <a:srgbClr val="FFFFFF"/>
                </a:solidFill>
                <a:latin typeface="Aptos"/>
              </a:rPr>
              <a:t>5-minute preliminary update</a:t>
            </a:r>
            <a:endParaRPr lang="en-US" sz="1400"/>
          </a:p>
        </p:txBody>
      </p:sp>
      <p:sp>
        <p:nvSpPr>
          <p:cNvPr id="9" name="TextBox 9"/>
          <p:cNvSpPr txBox="1"/>
          <p:nvPr/>
        </p:nvSpPr>
        <p:spPr>
          <a:xfrm>
            <a:off x="868680" y="6291072"/>
            <a:ext cx="3840480" cy="201168"/>
          </a:xfrm>
          <a:prstGeom prst="rect">
            <a:avLst/>
          </a:prstGeom>
          <a:noFill/>
          <a:ln>
            <a:noFill/>
          </a:ln>
        </p:spPr>
        <p:txBody>
          <a:bodyPr wrap="square" anchor="t" lIns="54864" tIns="54864" rIns="54864" bIns="54864"/>
          <a:lstStyle/>
          <a:p>
            <a:pPr algn="l"/>
            <a:r>
              <a:rPr lang="en-US" sz="1000">
                <a:solidFill>
                  <a:srgbClr val="A7B7C7"/>
                </a:solidFill>
                <a:latin typeface="Aptos"/>
              </a:rPr>
              <a:t>Slide 1</a:t>
            </a:r>
            <a:endParaRPr lang="en-US" sz="1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2000" cy="566928"/>
          </a:xfrm>
          <a:prstGeom prst="rect">
            <a:avLst/>
          </a:prstGeom>
          <a:solidFill>
            <a:srgbClr val="0E2841"/>
          </a:solidFill>
          <a:ln>
            <a:noFill/>
          </a:ln>
        </p:spPr>
        <p:txBody>
          <a:bodyPr/>
          <a:lstStyle/>
          <a:p/>
        </p:txBody>
      </p:sp>
      <p:sp>
        <p:nvSpPr>
          <p:cNvPr id="3" name="Shape 3"/>
          <p:cNvSpPr/>
          <p:nvPr/>
        </p:nvSpPr>
        <p:spPr>
          <a:xfrm>
            <a:off x="0" y="566928"/>
            <a:ext cx="12192000" cy="54864"/>
          </a:xfrm>
          <a:prstGeom prst="rect">
            <a:avLst/>
          </a:prstGeom>
          <a:solidFill>
            <a:srgbClr val="156082"/>
          </a:solidFill>
          <a:ln>
            <a:noFill/>
          </a:ln>
        </p:spPr>
        <p:txBody>
          <a:bodyPr/>
          <a:lstStyle/>
          <a:p/>
        </p:txBody>
      </p:sp>
      <p:sp>
        <p:nvSpPr>
          <p:cNvPr id="4" name="TextBox 4"/>
          <p:cNvSpPr txBox="1"/>
          <p:nvPr/>
        </p:nvSpPr>
        <p:spPr>
          <a:xfrm>
            <a:off x="502920" y="109728"/>
            <a:ext cx="8046720" cy="329184"/>
          </a:xfrm>
          <a:prstGeom prst="rect">
            <a:avLst/>
          </a:prstGeom>
          <a:noFill/>
          <a:ln>
            <a:noFill/>
          </a:ln>
        </p:spPr>
        <p:txBody>
          <a:bodyPr wrap="square" anchor="t" lIns="54864" tIns="54864" rIns="54864" bIns="54864"/>
          <a:lstStyle/>
          <a:p>
            <a:pPr algn="l"/>
            <a:r>
              <a:rPr lang="en-US" sz="2600" b="1">
                <a:solidFill>
                  <a:srgbClr val="FFFFFF"/>
                </a:solidFill>
                <a:latin typeface="Aptos Display"/>
              </a:rPr>
              <a:t>Motivation and Research Questions</a:t>
            </a:r>
            <a:endParaRPr lang="en-US" sz="2600"/>
          </a:p>
        </p:txBody>
      </p:sp>
      <p:sp>
        <p:nvSpPr>
          <p:cNvPr id="5" name="TextBox 5"/>
          <p:cNvSpPr txBox="1"/>
          <p:nvPr/>
        </p:nvSpPr>
        <p:spPr>
          <a:xfrm>
            <a:off x="10881360" y="6455664"/>
            <a:ext cx="914400" cy="219456"/>
          </a:xfrm>
          <a:prstGeom prst="rect">
            <a:avLst/>
          </a:prstGeom>
          <a:noFill/>
          <a:ln>
            <a:noFill/>
          </a:ln>
        </p:spPr>
        <p:txBody>
          <a:bodyPr wrap="square" anchor="t" lIns="54864" tIns="54864" rIns="54864" bIns="54864"/>
          <a:lstStyle/>
          <a:p>
            <a:pPr algn="r"/>
            <a:r>
              <a:rPr lang="en-US" sz="1000">
                <a:solidFill>
                  <a:srgbClr val="6B7280"/>
                </a:solidFill>
                <a:latin typeface="Aptos"/>
              </a:rPr>
              <a:t>2/7</a:t>
            </a:r>
            <a:endParaRPr lang="en-US" sz="1000"/>
          </a:p>
        </p:txBody>
      </p:sp>
      <p:sp>
        <p:nvSpPr>
          <p:cNvPr id="6" name="TextBox 6"/>
          <p:cNvSpPr txBox="1"/>
          <p:nvPr/>
        </p:nvSpPr>
        <p:spPr>
          <a:xfrm>
            <a:off x="749808" y="987552"/>
            <a:ext cx="10424160" cy="5120640"/>
          </a:xfrm>
          <a:prstGeom prst="rect">
            <a:avLst/>
          </a:prstGeom>
          <a:noFill/>
          <a:ln>
            <a:noFill/>
          </a:ln>
        </p:spPr>
        <p:txBody>
          <a:bodyPr wrap="square" anchor="t" lIns="54864" tIns="54864" rIns="54864" bIns="54864"/>
          <a:lstStyle/>
          <a:p>
            <a:pPr algn="l"/>
            <a:r>
              <a:rPr lang="en-US" sz="2000">
                <a:solidFill>
                  <a:srgbClr val="1F2937"/>
                </a:solidFill>
                <a:latin typeface="Aptos"/>
              </a:rPr>
              <a:t>- Learn publisher-specific weights instead of assigning source importance by hand</a:t>
            </a:r>
            <a:endParaRPr lang="en-US" sz="2000"/>
          </a:p>
          <a:p>
            <a:pPr algn="l"/>
            <a:r>
              <a:rPr lang="en-US" sz="2000">
                <a:solidFill>
                  <a:srgbClr val="1F2937"/>
                </a:solidFill>
                <a:latin typeface="Aptos"/>
              </a:rPr>
              <a:t>- Compare FinBERT against TF-IDF for financial text signal extraction</a:t>
            </a:r>
            <a:endParaRPr lang="en-US" sz="2000"/>
          </a:p>
          <a:p>
            <a:pPr algn="l"/>
            <a:r>
              <a:rPr lang="en-US" sz="2000">
                <a:solidFill>
                  <a:srgbClr val="1F2937"/>
                </a:solidFill>
                <a:latin typeface="Aptos"/>
              </a:rPr>
              <a:t>- Test nonlinear interaction effects between news sentiment and fundamentals</a:t>
            </a:r>
            <a:endParaRPr lang="en-US" sz="2000"/>
          </a:p>
          <a:p>
            <a:pPr algn="l"/>
            <a:r>
              <a:rPr lang="en-US" sz="2000">
                <a:solidFill>
                  <a:srgbClr val="1F2937"/>
                </a:solidFill>
                <a:latin typeface="Aptos"/>
              </a:rPr>
              <a:t>- Use SHAP to separate sentiment signal from market and technical signal</a:t>
            </a:r>
            <a:endParaRPr lang="en-US" sz="2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2000" cy="566928"/>
          </a:xfrm>
          <a:prstGeom prst="rect">
            <a:avLst/>
          </a:prstGeom>
          <a:solidFill>
            <a:srgbClr val="0E2841"/>
          </a:solidFill>
          <a:ln>
            <a:noFill/>
          </a:ln>
        </p:spPr>
        <p:txBody>
          <a:bodyPr/>
          <a:lstStyle/>
          <a:p/>
        </p:txBody>
      </p:sp>
      <p:sp>
        <p:nvSpPr>
          <p:cNvPr id="3" name="Shape 3"/>
          <p:cNvSpPr/>
          <p:nvPr/>
        </p:nvSpPr>
        <p:spPr>
          <a:xfrm>
            <a:off x="0" y="566928"/>
            <a:ext cx="12192000" cy="54864"/>
          </a:xfrm>
          <a:prstGeom prst="rect">
            <a:avLst/>
          </a:prstGeom>
          <a:solidFill>
            <a:srgbClr val="156082"/>
          </a:solidFill>
          <a:ln>
            <a:noFill/>
          </a:ln>
        </p:spPr>
        <p:txBody>
          <a:bodyPr/>
          <a:lstStyle/>
          <a:p/>
        </p:txBody>
      </p:sp>
      <p:sp>
        <p:nvSpPr>
          <p:cNvPr id="4" name="TextBox 4"/>
          <p:cNvSpPr txBox="1"/>
          <p:nvPr/>
        </p:nvSpPr>
        <p:spPr>
          <a:xfrm>
            <a:off x="502920" y="109728"/>
            <a:ext cx="8046720" cy="329184"/>
          </a:xfrm>
          <a:prstGeom prst="rect">
            <a:avLst/>
          </a:prstGeom>
          <a:noFill/>
          <a:ln>
            <a:noFill/>
          </a:ln>
        </p:spPr>
        <p:txBody>
          <a:bodyPr wrap="square" anchor="t" lIns="54864" tIns="54864" rIns="54864" bIns="54864"/>
          <a:lstStyle/>
          <a:p>
            <a:pPr algn="l"/>
            <a:r>
              <a:rPr lang="en-US" sz="2600" b="1">
                <a:solidFill>
                  <a:srgbClr val="FFFFFF"/>
                </a:solidFill>
                <a:latin typeface="Aptos Display"/>
              </a:rPr>
              <a:t>Data Sources and Modeling Target</a:t>
            </a:r>
            <a:endParaRPr lang="en-US" sz="2600"/>
          </a:p>
        </p:txBody>
      </p:sp>
      <p:sp>
        <p:nvSpPr>
          <p:cNvPr id="5" name="TextBox 5"/>
          <p:cNvSpPr txBox="1"/>
          <p:nvPr/>
        </p:nvSpPr>
        <p:spPr>
          <a:xfrm>
            <a:off x="10881360" y="6455664"/>
            <a:ext cx="914400" cy="219456"/>
          </a:xfrm>
          <a:prstGeom prst="rect">
            <a:avLst/>
          </a:prstGeom>
          <a:noFill/>
          <a:ln>
            <a:noFill/>
          </a:ln>
        </p:spPr>
        <p:txBody>
          <a:bodyPr wrap="square" anchor="t" lIns="54864" tIns="54864" rIns="54864" bIns="54864"/>
          <a:lstStyle/>
          <a:p>
            <a:pPr algn="r"/>
            <a:r>
              <a:rPr lang="en-US" sz="1000">
                <a:solidFill>
                  <a:srgbClr val="6B7280"/>
                </a:solidFill>
                <a:latin typeface="Aptos"/>
              </a:rPr>
              <a:t>3/7</a:t>
            </a:r>
            <a:endParaRPr lang="en-US" sz="1000"/>
          </a:p>
        </p:txBody>
      </p:sp>
      <p:sp>
        <p:nvSpPr>
          <p:cNvPr id="6" name="TextBox 6"/>
          <p:cNvSpPr txBox="1"/>
          <p:nvPr/>
        </p:nvSpPr>
        <p:spPr>
          <a:xfrm>
            <a:off x="713232" y="950976"/>
            <a:ext cx="5349240" cy="4709160"/>
          </a:xfrm>
          <a:prstGeom prst="rect">
            <a:avLst/>
          </a:prstGeom>
          <a:noFill/>
          <a:ln>
            <a:noFill/>
          </a:ln>
        </p:spPr>
        <p:txBody>
          <a:bodyPr wrap="square" anchor="t" lIns="54864" tIns="54864" rIns="54864" bIns="54864"/>
          <a:lstStyle/>
          <a:p>
            <a:pPr algn="l"/>
            <a:r>
              <a:rPr lang="en-US" sz="1800">
                <a:solidFill>
                  <a:srgbClr val="1F2937"/>
                </a:solidFill>
                <a:latin typeface="Aptos"/>
              </a:rPr>
              <a:t>- Alpaca: daily OHLCV bars and Benzinga news</a:t>
            </a:r>
            <a:endParaRPr lang="en-US" sz="1800"/>
          </a:p>
          <a:p>
            <a:pPr algn="l"/>
            <a:r>
              <a:rPr lang="en-US" sz="1800">
                <a:solidFill>
                  <a:srgbClr val="1F2937"/>
                </a:solidFill>
                <a:latin typeface="Aptos"/>
              </a:rPr>
              <a:t>- Finnhub: PE fundamentals and multi-source company news</a:t>
            </a:r>
            <a:endParaRPr lang="en-US" sz="1800"/>
          </a:p>
          <a:p>
            <a:pPr algn="l"/>
            <a:r>
              <a:rPr lang="en-US" sz="1800">
                <a:solidFill>
                  <a:srgbClr val="1F2937"/>
                </a:solidFill>
                <a:latin typeface="Aptos"/>
              </a:rPr>
              <a:t>- 10 tickers: NVDA, GOOGL, MSFT, AMZN, TSLA, LMT, NEM, AAPL, META, JPM</a:t>
            </a:r>
            <a:endParaRPr lang="en-US" sz="1800"/>
          </a:p>
          <a:p>
            <a:pPr algn="l"/>
            <a:r>
              <a:rPr lang="en-US" sz="1800">
                <a:solidFill>
                  <a:srgbClr val="1F2937"/>
                </a:solidFill>
                <a:latin typeface="Aptos"/>
              </a:rPr>
              <a:t>- Current cache: 46,461 articles and 2,390 merged daily rows</a:t>
            </a:r>
            <a:endParaRPr lang="en-US" sz="1800"/>
          </a:p>
          <a:p>
            <a:pPr algn="l"/>
            <a:r>
              <a:rPr lang="en-US" sz="1800">
                <a:solidFill>
                  <a:srgbClr val="1F2937"/>
                </a:solidFill>
                <a:latin typeface="Aptos"/>
              </a:rPr>
              <a:t>- Prediction target: day t features -&gt; day t+1 direction</a:t>
            </a:r>
            <a:endParaRPr lang="en-US" sz="1800"/>
          </a:p>
        </p:txBody>
      </p:sp>
      <p:sp>
        <p:nvSpPr>
          <p:cNvPr id="7" name="Shape 7"/>
          <p:cNvSpPr/>
          <p:nvPr/>
        </p:nvSpPr>
        <p:spPr>
          <a:xfrm>
            <a:off x="6400800" y="1024128"/>
            <a:ext cx="5074920" cy="3950208"/>
          </a:xfrm>
          <a:prstGeom prst="rect">
            <a:avLst/>
          </a:prstGeom>
          <a:solidFill>
            <a:srgbClr val="F3F5F7"/>
          </a:solidFill>
          <a:ln w="12700">
            <a:solidFill>
              <a:srgbClr val="D0D7DE"/>
            </a:solidFill>
          </a:ln>
        </p:spPr>
        <p:txBody>
          <a:bodyPr/>
          <a:lstStyle/>
          <a:p/>
        </p:txBody>
      </p:sp>
      <p:pic>
        <p:nvPicPr>
          <p:cNvPr id="8" name="Picture 8"/>
          <p:cNvPicPr>
            <a:picLocks noChangeAspect="1"/>
          </p:cNvPicPr>
          <p:nvPr/>
        </p:nvPicPr>
        <p:blipFill>
          <a:blip r:embed="rId2"/>
          <a:stretch>
            <a:fillRect/>
          </a:stretch>
        </p:blipFill>
        <p:spPr>
          <a:xfrm>
            <a:off x="6473952" y="1714577"/>
            <a:ext cx="4928616" cy="2423006"/>
          </a:xfrm>
          <a:prstGeom prst="rect">
            <a:avLst/>
          </a:prstGeom>
          <a:ln w="12700">
            <a:solidFill>
              <a:srgbClr val="D0D7DE"/>
            </a:solidFill>
          </a:ln>
        </p:spPr>
      </p:pic>
      <p:sp>
        <p:nvSpPr>
          <p:cNvPr id="9" name="TextBox 9"/>
          <p:cNvSpPr txBox="1"/>
          <p:nvPr/>
        </p:nvSpPr>
        <p:spPr>
          <a:xfrm>
            <a:off x="6446520" y="5056632"/>
            <a:ext cx="4983480" cy="329184"/>
          </a:xfrm>
          <a:prstGeom prst="rect">
            <a:avLst/>
          </a:prstGeom>
          <a:noFill/>
          <a:ln>
            <a:noFill/>
          </a:ln>
        </p:spPr>
        <p:txBody>
          <a:bodyPr wrap="square" anchor="t" lIns="54864" tIns="54864" rIns="54864" bIns="54864"/>
          <a:lstStyle/>
          <a:p>
            <a:pPr algn="ctr"/>
            <a:r>
              <a:rPr lang="en-US" sz="1100">
                <a:solidFill>
                  <a:srgbClr val="6B7280"/>
                </a:solidFill>
                <a:latin typeface="Aptos"/>
              </a:rPr>
              <a:t>Publisher mix in the current news cache</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2000" cy="566928"/>
          </a:xfrm>
          <a:prstGeom prst="rect">
            <a:avLst/>
          </a:prstGeom>
          <a:solidFill>
            <a:srgbClr val="0E2841"/>
          </a:solidFill>
          <a:ln>
            <a:noFill/>
          </a:ln>
        </p:spPr>
        <p:txBody>
          <a:bodyPr/>
          <a:lstStyle/>
          <a:p/>
        </p:txBody>
      </p:sp>
      <p:sp>
        <p:nvSpPr>
          <p:cNvPr id="3" name="Shape 3"/>
          <p:cNvSpPr/>
          <p:nvPr/>
        </p:nvSpPr>
        <p:spPr>
          <a:xfrm>
            <a:off x="0" y="566928"/>
            <a:ext cx="12192000" cy="54864"/>
          </a:xfrm>
          <a:prstGeom prst="rect">
            <a:avLst/>
          </a:prstGeom>
          <a:solidFill>
            <a:srgbClr val="156082"/>
          </a:solidFill>
          <a:ln>
            <a:noFill/>
          </a:ln>
        </p:spPr>
        <p:txBody>
          <a:bodyPr/>
          <a:lstStyle/>
          <a:p/>
        </p:txBody>
      </p:sp>
      <p:sp>
        <p:nvSpPr>
          <p:cNvPr id="4" name="TextBox 4"/>
          <p:cNvSpPr txBox="1"/>
          <p:nvPr/>
        </p:nvSpPr>
        <p:spPr>
          <a:xfrm>
            <a:off x="502920" y="109728"/>
            <a:ext cx="8046720" cy="329184"/>
          </a:xfrm>
          <a:prstGeom prst="rect">
            <a:avLst/>
          </a:prstGeom>
          <a:noFill/>
          <a:ln>
            <a:noFill/>
          </a:ln>
        </p:spPr>
        <p:txBody>
          <a:bodyPr wrap="square" anchor="t" lIns="54864" tIns="54864" rIns="54864" bIns="54864"/>
          <a:lstStyle/>
          <a:p>
            <a:pPr algn="l"/>
            <a:r>
              <a:rPr lang="en-US" sz="2600" b="1">
                <a:solidFill>
                  <a:srgbClr val="FFFFFF"/>
                </a:solidFill>
                <a:latin typeface="Aptos Display"/>
              </a:rPr>
              <a:t>Current Modeling Pipeline</a:t>
            </a:r>
            <a:endParaRPr lang="en-US" sz="2600"/>
          </a:p>
        </p:txBody>
      </p:sp>
      <p:sp>
        <p:nvSpPr>
          <p:cNvPr id="5" name="TextBox 5"/>
          <p:cNvSpPr txBox="1"/>
          <p:nvPr/>
        </p:nvSpPr>
        <p:spPr>
          <a:xfrm>
            <a:off x="10881360" y="6455664"/>
            <a:ext cx="914400" cy="219456"/>
          </a:xfrm>
          <a:prstGeom prst="rect">
            <a:avLst/>
          </a:prstGeom>
          <a:noFill/>
          <a:ln>
            <a:noFill/>
          </a:ln>
        </p:spPr>
        <p:txBody>
          <a:bodyPr wrap="square" anchor="t" lIns="54864" tIns="54864" rIns="54864" bIns="54864"/>
          <a:lstStyle/>
          <a:p>
            <a:pPr algn="r"/>
            <a:r>
              <a:rPr lang="en-US" sz="1000">
                <a:solidFill>
                  <a:srgbClr val="6B7280"/>
                </a:solidFill>
                <a:latin typeface="Aptos"/>
              </a:rPr>
              <a:t>4/7</a:t>
            </a:r>
            <a:endParaRPr lang="en-US" sz="1000"/>
          </a:p>
        </p:txBody>
      </p:sp>
      <p:sp>
        <p:nvSpPr>
          <p:cNvPr id="6" name="Shape 6"/>
          <p:cNvSpPr/>
          <p:nvPr/>
        </p:nvSpPr>
        <p:spPr>
          <a:xfrm>
            <a:off x="502920" y="1874520"/>
            <a:ext cx="1874520" cy="932688"/>
          </a:xfrm>
          <a:prstGeom prst="roundRect">
            <a:avLst/>
          </a:prstGeom>
          <a:solidFill>
            <a:srgbClr val="156082"/>
          </a:solidFill>
          <a:ln>
            <a:noFill/>
          </a:ln>
        </p:spPr>
        <p:txBody>
          <a:bodyPr/>
          <a:lstStyle/>
          <a:p/>
        </p:txBody>
      </p:sp>
      <p:sp>
        <p:nvSpPr>
          <p:cNvPr id="7" name="TextBox 7"/>
          <p:cNvSpPr txBox="1"/>
          <p:nvPr/>
        </p:nvSpPr>
        <p:spPr>
          <a:xfrm>
            <a:off x="594360" y="1993392"/>
            <a:ext cx="1691640" cy="640080"/>
          </a:xfrm>
          <a:prstGeom prst="rect">
            <a:avLst/>
          </a:prstGeom>
          <a:noFill/>
          <a:ln>
            <a:noFill/>
          </a:ln>
        </p:spPr>
        <p:txBody>
          <a:bodyPr wrap="square" anchor="t" lIns="54864" tIns="54864" rIns="54864" bIns="54864"/>
          <a:lstStyle/>
          <a:p>
            <a:pPr algn="ctr"/>
            <a:r>
              <a:rPr lang="en-US" sz="1500" b="1">
                <a:solidFill>
                  <a:srgbClr val="FFFFFF"/>
                </a:solidFill>
                <a:latin typeface="Aptos"/>
              </a:rPr>
              <a:t>1. Data pipeline</a:t>
            </a:r>
            <a:endParaRPr lang="en-US" sz="1500"/>
          </a:p>
          <a:p>
            <a:pPr algn="ctr"/>
            <a:r>
              <a:rPr lang="en-US" sz="1500" b="1">
                <a:solidFill>
                  <a:srgbClr val="FFFFFF"/>
                </a:solidFill>
                <a:latin typeface="Aptos"/>
              </a:rPr>
              <a:t>Alpaca + Finnhub</a:t>
            </a:r>
            <a:endParaRPr lang="en-US" sz="1500"/>
          </a:p>
        </p:txBody>
      </p:sp>
      <p:sp>
        <p:nvSpPr>
          <p:cNvPr id="8" name="TextBox 8"/>
          <p:cNvSpPr txBox="1"/>
          <p:nvPr/>
        </p:nvSpPr>
        <p:spPr>
          <a:xfrm>
            <a:off x="2395728" y="2176272"/>
            <a:ext cx="201168" cy="219456"/>
          </a:xfrm>
          <a:prstGeom prst="rect">
            <a:avLst/>
          </a:prstGeom>
          <a:noFill/>
          <a:ln>
            <a:noFill/>
          </a:ln>
        </p:spPr>
        <p:txBody>
          <a:bodyPr wrap="square" anchor="t" lIns="54864" tIns="54864" rIns="54864" bIns="54864"/>
          <a:lstStyle/>
          <a:p>
            <a:pPr algn="ctr"/>
            <a:r>
              <a:rPr lang="en-US" sz="1800" b="1">
                <a:solidFill>
                  <a:srgbClr val="6B7280"/>
                </a:solidFill>
                <a:latin typeface="Aptos"/>
              </a:rPr>
              <a:t>&gt;</a:t>
            </a:r>
            <a:endParaRPr lang="en-US" sz="1800"/>
          </a:p>
        </p:txBody>
      </p:sp>
      <p:sp>
        <p:nvSpPr>
          <p:cNvPr id="9" name="Shape 9"/>
          <p:cNvSpPr/>
          <p:nvPr/>
        </p:nvSpPr>
        <p:spPr>
          <a:xfrm>
            <a:off x="2697480" y="1874520"/>
            <a:ext cx="1874520" cy="932688"/>
          </a:xfrm>
          <a:prstGeom prst="roundRect">
            <a:avLst/>
          </a:prstGeom>
          <a:solidFill>
            <a:srgbClr val="E97132"/>
          </a:solidFill>
          <a:ln>
            <a:noFill/>
          </a:ln>
        </p:spPr>
        <p:txBody>
          <a:bodyPr/>
          <a:lstStyle/>
          <a:p/>
        </p:txBody>
      </p:sp>
      <p:sp>
        <p:nvSpPr>
          <p:cNvPr id="10" name="TextBox 10"/>
          <p:cNvSpPr txBox="1"/>
          <p:nvPr/>
        </p:nvSpPr>
        <p:spPr>
          <a:xfrm>
            <a:off x="2788920" y="1993392"/>
            <a:ext cx="1691640" cy="640080"/>
          </a:xfrm>
          <a:prstGeom prst="rect">
            <a:avLst/>
          </a:prstGeom>
          <a:noFill/>
          <a:ln>
            <a:noFill/>
          </a:ln>
        </p:spPr>
        <p:txBody>
          <a:bodyPr wrap="square" anchor="t" lIns="54864" tIns="54864" rIns="54864" bIns="54864"/>
          <a:lstStyle/>
          <a:p>
            <a:pPr algn="ctr"/>
            <a:r>
              <a:rPr lang="en-US" sz="1500" b="1">
                <a:solidFill>
                  <a:srgbClr val="FFFFFF"/>
                </a:solidFill>
                <a:latin typeface="Aptos"/>
              </a:rPr>
              <a:t>2. Text models</a:t>
            </a:r>
            <a:endParaRPr lang="en-US" sz="1500"/>
          </a:p>
          <a:p>
            <a:pPr algn="ctr"/>
            <a:r>
              <a:rPr lang="en-US" sz="1500" b="1">
                <a:solidFill>
                  <a:srgbClr val="FFFFFF"/>
                </a:solidFill>
                <a:latin typeface="Aptos"/>
              </a:rPr>
              <a:t>TF-IDF vs FinBERT</a:t>
            </a:r>
            <a:endParaRPr lang="en-US" sz="1500"/>
          </a:p>
        </p:txBody>
      </p:sp>
      <p:sp>
        <p:nvSpPr>
          <p:cNvPr id="11" name="TextBox 11"/>
          <p:cNvSpPr txBox="1"/>
          <p:nvPr/>
        </p:nvSpPr>
        <p:spPr>
          <a:xfrm>
            <a:off x="4590288" y="2176272"/>
            <a:ext cx="201168" cy="219456"/>
          </a:xfrm>
          <a:prstGeom prst="rect">
            <a:avLst/>
          </a:prstGeom>
          <a:noFill/>
          <a:ln>
            <a:noFill/>
          </a:ln>
        </p:spPr>
        <p:txBody>
          <a:bodyPr wrap="square" anchor="t" lIns="54864" tIns="54864" rIns="54864" bIns="54864"/>
          <a:lstStyle/>
          <a:p>
            <a:pPr algn="ctr"/>
            <a:r>
              <a:rPr lang="en-US" sz="1800" b="1">
                <a:solidFill>
                  <a:srgbClr val="6B7280"/>
                </a:solidFill>
                <a:latin typeface="Aptos"/>
              </a:rPr>
              <a:t>&gt;</a:t>
            </a:r>
            <a:endParaRPr lang="en-US" sz="1800"/>
          </a:p>
        </p:txBody>
      </p:sp>
      <p:sp>
        <p:nvSpPr>
          <p:cNvPr id="12" name="Shape 12"/>
          <p:cNvSpPr/>
          <p:nvPr/>
        </p:nvSpPr>
        <p:spPr>
          <a:xfrm>
            <a:off x="4892040" y="1874520"/>
            <a:ext cx="1874520" cy="932688"/>
          </a:xfrm>
          <a:prstGeom prst="roundRect">
            <a:avLst/>
          </a:prstGeom>
          <a:solidFill>
            <a:srgbClr val="196B24"/>
          </a:solidFill>
          <a:ln>
            <a:noFill/>
          </a:ln>
        </p:spPr>
        <p:txBody>
          <a:bodyPr/>
          <a:lstStyle/>
          <a:p/>
        </p:txBody>
      </p:sp>
      <p:sp>
        <p:nvSpPr>
          <p:cNvPr id="13" name="TextBox 13"/>
          <p:cNvSpPr txBox="1"/>
          <p:nvPr/>
        </p:nvSpPr>
        <p:spPr>
          <a:xfrm>
            <a:off x="4983480" y="1993392"/>
            <a:ext cx="1691640" cy="640080"/>
          </a:xfrm>
          <a:prstGeom prst="rect">
            <a:avLst/>
          </a:prstGeom>
          <a:noFill/>
          <a:ln>
            <a:noFill/>
          </a:ln>
        </p:spPr>
        <p:txBody>
          <a:bodyPr wrap="square" anchor="t" lIns="54864" tIns="54864" rIns="54864" bIns="54864"/>
          <a:lstStyle/>
          <a:p>
            <a:pPr algn="ctr"/>
            <a:r>
              <a:rPr lang="en-US" sz="1500" b="1">
                <a:solidFill>
                  <a:srgbClr val="FFFFFF"/>
                </a:solidFill>
                <a:latin typeface="Aptos"/>
              </a:rPr>
              <a:t>3. Media weights</a:t>
            </a:r>
            <a:endParaRPr lang="en-US" sz="1500"/>
          </a:p>
          <a:p>
            <a:pPr algn="ctr"/>
            <a:r>
              <a:rPr lang="en-US" sz="1500" b="1">
                <a:solidFill>
                  <a:srgbClr val="FFFFFF"/>
                </a:solidFill>
                <a:latin typeface="Aptos"/>
              </a:rPr>
              <a:t>Lasso / Ridge</a:t>
            </a:r>
            <a:endParaRPr lang="en-US" sz="1500"/>
          </a:p>
        </p:txBody>
      </p:sp>
      <p:sp>
        <p:nvSpPr>
          <p:cNvPr id="14" name="TextBox 14"/>
          <p:cNvSpPr txBox="1"/>
          <p:nvPr/>
        </p:nvSpPr>
        <p:spPr>
          <a:xfrm>
            <a:off x="6784848" y="2176272"/>
            <a:ext cx="201168" cy="219456"/>
          </a:xfrm>
          <a:prstGeom prst="rect">
            <a:avLst/>
          </a:prstGeom>
          <a:noFill/>
          <a:ln>
            <a:noFill/>
          </a:ln>
        </p:spPr>
        <p:txBody>
          <a:bodyPr wrap="square" anchor="t" lIns="54864" tIns="54864" rIns="54864" bIns="54864"/>
          <a:lstStyle/>
          <a:p>
            <a:pPr algn="ctr"/>
            <a:r>
              <a:rPr lang="en-US" sz="1800" b="1">
                <a:solidFill>
                  <a:srgbClr val="6B7280"/>
                </a:solidFill>
                <a:latin typeface="Aptos"/>
              </a:rPr>
              <a:t>&gt;</a:t>
            </a:r>
            <a:endParaRPr lang="en-US" sz="1800"/>
          </a:p>
        </p:txBody>
      </p:sp>
      <p:sp>
        <p:nvSpPr>
          <p:cNvPr id="15" name="Shape 15"/>
          <p:cNvSpPr/>
          <p:nvPr/>
        </p:nvSpPr>
        <p:spPr>
          <a:xfrm>
            <a:off x="7086600" y="1874520"/>
            <a:ext cx="1874520" cy="932688"/>
          </a:xfrm>
          <a:prstGeom prst="roundRect">
            <a:avLst/>
          </a:prstGeom>
          <a:solidFill>
            <a:srgbClr val="0E2841"/>
          </a:solidFill>
          <a:ln>
            <a:noFill/>
          </a:ln>
        </p:spPr>
        <p:txBody>
          <a:bodyPr/>
          <a:lstStyle/>
          <a:p/>
        </p:txBody>
      </p:sp>
      <p:sp>
        <p:nvSpPr>
          <p:cNvPr id="16" name="TextBox 16"/>
          <p:cNvSpPr txBox="1"/>
          <p:nvPr/>
        </p:nvSpPr>
        <p:spPr>
          <a:xfrm>
            <a:off x="7178040" y="1993392"/>
            <a:ext cx="1691640" cy="640080"/>
          </a:xfrm>
          <a:prstGeom prst="rect">
            <a:avLst/>
          </a:prstGeom>
          <a:noFill/>
          <a:ln>
            <a:noFill/>
          </a:ln>
        </p:spPr>
        <p:txBody>
          <a:bodyPr wrap="square" anchor="t" lIns="54864" tIns="54864" rIns="54864" bIns="54864"/>
          <a:lstStyle/>
          <a:p>
            <a:pPr algn="ctr"/>
            <a:r>
              <a:rPr lang="en-US" sz="1500" b="1">
                <a:solidFill>
                  <a:srgbClr val="FFFFFF"/>
                </a:solidFill>
                <a:latin typeface="Aptos"/>
              </a:rPr>
              <a:t>4. Tuned models</a:t>
            </a:r>
            <a:endParaRPr lang="en-US" sz="1500"/>
          </a:p>
          <a:p>
            <a:pPr algn="ctr"/>
            <a:r>
              <a:rPr lang="en-US" sz="1500" b="1">
                <a:solidFill>
                  <a:srgbClr val="FFFFFF"/>
                </a:solidFill>
                <a:latin typeface="Aptos"/>
              </a:rPr>
              <a:t>PCA + XGBoost + SHAP</a:t>
            </a:r>
            <a:endParaRPr lang="en-US" sz="1500"/>
          </a:p>
        </p:txBody>
      </p:sp>
      <p:sp>
        <p:nvSpPr>
          <p:cNvPr id="17" name="TextBox 17"/>
          <p:cNvSpPr txBox="1"/>
          <p:nvPr/>
        </p:nvSpPr>
        <p:spPr>
          <a:xfrm>
            <a:off x="8979408" y="2176272"/>
            <a:ext cx="201168" cy="219456"/>
          </a:xfrm>
          <a:prstGeom prst="rect">
            <a:avLst/>
          </a:prstGeom>
          <a:noFill/>
          <a:ln>
            <a:noFill/>
          </a:ln>
        </p:spPr>
        <p:txBody>
          <a:bodyPr wrap="square" anchor="t" lIns="54864" tIns="54864" rIns="54864" bIns="54864"/>
          <a:lstStyle/>
          <a:p>
            <a:pPr algn="ctr"/>
            <a:r>
              <a:rPr lang="en-US" sz="1800" b="1">
                <a:solidFill>
                  <a:srgbClr val="6B7280"/>
                </a:solidFill>
                <a:latin typeface="Aptos"/>
              </a:rPr>
              <a:t>&gt;</a:t>
            </a:r>
            <a:endParaRPr lang="en-US" sz="1800"/>
          </a:p>
        </p:txBody>
      </p:sp>
      <p:sp>
        <p:nvSpPr>
          <p:cNvPr id="18" name="Shape 18"/>
          <p:cNvSpPr/>
          <p:nvPr/>
        </p:nvSpPr>
        <p:spPr>
          <a:xfrm>
            <a:off x="9281160" y="1874520"/>
            <a:ext cx="1874520" cy="932688"/>
          </a:xfrm>
          <a:prstGeom prst="roundRect">
            <a:avLst/>
          </a:prstGeom>
          <a:solidFill>
            <a:srgbClr val="4EA72E"/>
          </a:solidFill>
          <a:ln>
            <a:noFill/>
          </a:ln>
        </p:spPr>
        <p:txBody>
          <a:bodyPr/>
          <a:lstStyle/>
          <a:p/>
        </p:txBody>
      </p:sp>
      <p:sp>
        <p:nvSpPr>
          <p:cNvPr id="19" name="TextBox 19"/>
          <p:cNvSpPr txBox="1"/>
          <p:nvPr/>
        </p:nvSpPr>
        <p:spPr>
          <a:xfrm>
            <a:off x="9372600" y="1993392"/>
            <a:ext cx="1691640" cy="640080"/>
          </a:xfrm>
          <a:prstGeom prst="rect">
            <a:avLst/>
          </a:prstGeom>
          <a:noFill/>
          <a:ln>
            <a:noFill/>
          </a:ln>
        </p:spPr>
        <p:txBody>
          <a:bodyPr wrap="square" anchor="t" lIns="54864" tIns="54864" rIns="54864" bIns="54864"/>
          <a:lstStyle/>
          <a:p>
            <a:pPr algn="ctr"/>
            <a:r>
              <a:rPr lang="en-US" sz="1500" b="1">
                <a:solidFill>
                  <a:srgbClr val="FFFFFF"/>
                </a:solidFill>
                <a:latin typeface="Aptos"/>
              </a:rPr>
              <a:t>5. Latest hybrid</a:t>
            </a:r>
            <a:endParaRPr lang="en-US" sz="1500"/>
          </a:p>
          <a:p>
            <a:pPr algn="ctr"/>
            <a:r>
              <a:rPr lang="en-US" sz="1500" b="1">
                <a:solidFill>
                  <a:srgbClr val="FFFFFF"/>
                </a:solidFill>
                <a:latin typeface="Aptos"/>
              </a:rPr>
              <a:t>DQS gated v13</a:t>
            </a:r>
            <a:endParaRPr lang="en-US" sz="1500"/>
          </a:p>
        </p:txBody>
      </p:sp>
      <p:sp>
        <p:nvSpPr>
          <p:cNvPr id="20" name="Shape 20"/>
          <p:cNvSpPr/>
          <p:nvPr/>
        </p:nvSpPr>
        <p:spPr>
          <a:xfrm>
            <a:off x="804672" y="3794760"/>
            <a:ext cx="10561320" cy="1207008"/>
          </a:xfrm>
          <a:prstGeom prst="roundRect">
            <a:avLst/>
          </a:prstGeom>
          <a:solidFill>
            <a:srgbClr val="F3F5F7"/>
          </a:solidFill>
          <a:ln w="12700">
            <a:solidFill>
              <a:srgbClr val="D0D7DE"/>
            </a:solidFill>
          </a:ln>
        </p:spPr>
        <p:txBody>
          <a:bodyPr/>
          <a:lstStyle/>
          <a:p/>
        </p:txBody>
      </p:sp>
      <p:sp>
        <p:nvSpPr>
          <p:cNvPr id="21" name="TextBox 21"/>
          <p:cNvSpPr txBox="1"/>
          <p:nvPr/>
        </p:nvSpPr>
        <p:spPr>
          <a:xfrm>
            <a:off x="987552" y="4041648"/>
            <a:ext cx="10149840" cy="731520"/>
          </a:xfrm>
          <a:prstGeom prst="rect">
            <a:avLst/>
          </a:prstGeom>
          <a:noFill/>
          <a:ln>
            <a:noFill/>
          </a:ln>
        </p:spPr>
        <p:txBody>
          <a:bodyPr wrap="square" anchor="t" lIns="54864" tIns="54864" rIns="54864" bIns="54864"/>
          <a:lstStyle/>
          <a:p>
            <a:pPr algn="ctr"/>
            <a:r>
              <a:rPr lang="en-US" sz="1700">
                <a:solidFill>
                  <a:srgbClr val="1F2937"/>
                </a:solidFill>
                <a:latin typeface="Aptos"/>
              </a:rPr>
              <a:t>The current implementation moved from simple sentiment scores to a gated hybrid pipeline.</a:t>
            </a:r>
            <a:endParaRPr lang="en-US" sz="1700"/>
          </a:p>
          <a:p>
            <a:pPr algn="ctr"/>
            <a:r>
              <a:rPr lang="en-US" sz="1700">
                <a:solidFill>
                  <a:srgbClr val="1F2937"/>
                </a:solidFill>
                <a:latin typeface="Aptos"/>
              </a:rPr>
              <a:t>Latest v13 feature fusion: market features + weighted sentiment stats + PCA(8) + top 10 keywords.</a:t>
            </a:r>
            <a:endParaRPr lang="en-US" sz="17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2000" cy="566928"/>
          </a:xfrm>
          <a:prstGeom prst="rect">
            <a:avLst/>
          </a:prstGeom>
          <a:solidFill>
            <a:srgbClr val="0E2841"/>
          </a:solidFill>
          <a:ln>
            <a:noFill/>
          </a:ln>
        </p:spPr>
        <p:txBody>
          <a:bodyPr/>
          <a:lstStyle/>
          <a:p/>
        </p:txBody>
      </p:sp>
      <p:sp>
        <p:nvSpPr>
          <p:cNvPr id="3" name="Shape 3"/>
          <p:cNvSpPr/>
          <p:nvPr/>
        </p:nvSpPr>
        <p:spPr>
          <a:xfrm>
            <a:off x="0" y="566928"/>
            <a:ext cx="12192000" cy="54864"/>
          </a:xfrm>
          <a:prstGeom prst="rect">
            <a:avLst/>
          </a:prstGeom>
          <a:solidFill>
            <a:srgbClr val="156082"/>
          </a:solidFill>
          <a:ln>
            <a:noFill/>
          </a:ln>
        </p:spPr>
        <p:txBody>
          <a:bodyPr/>
          <a:lstStyle/>
          <a:p/>
        </p:txBody>
      </p:sp>
      <p:sp>
        <p:nvSpPr>
          <p:cNvPr id="4" name="TextBox 4"/>
          <p:cNvSpPr txBox="1"/>
          <p:nvPr/>
        </p:nvSpPr>
        <p:spPr>
          <a:xfrm>
            <a:off x="502920" y="109728"/>
            <a:ext cx="8046720" cy="329184"/>
          </a:xfrm>
          <a:prstGeom prst="rect">
            <a:avLst/>
          </a:prstGeom>
          <a:noFill/>
          <a:ln>
            <a:noFill/>
          </a:ln>
        </p:spPr>
        <p:txBody>
          <a:bodyPr wrap="square" anchor="t" lIns="54864" tIns="54864" rIns="54864" bIns="54864"/>
          <a:lstStyle/>
          <a:p>
            <a:pPr algn="l"/>
            <a:r>
              <a:rPr lang="en-US" sz="2600" b="1">
                <a:solidFill>
                  <a:srgbClr val="FFFFFF"/>
                </a:solidFill>
                <a:latin typeface="Aptos Display"/>
              </a:rPr>
              <a:t>Preliminary Results</a:t>
            </a:r>
            <a:endParaRPr lang="en-US" sz="2600"/>
          </a:p>
        </p:txBody>
      </p:sp>
      <p:sp>
        <p:nvSpPr>
          <p:cNvPr id="5" name="TextBox 5"/>
          <p:cNvSpPr txBox="1"/>
          <p:nvPr/>
        </p:nvSpPr>
        <p:spPr>
          <a:xfrm>
            <a:off x="10881360" y="6455664"/>
            <a:ext cx="914400" cy="219456"/>
          </a:xfrm>
          <a:prstGeom prst="rect">
            <a:avLst/>
          </a:prstGeom>
          <a:noFill/>
          <a:ln>
            <a:noFill/>
          </a:ln>
        </p:spPr>
        <p:txBody>
          <a:bodyPr wrap="square" anchor="t" lIns="54864" tIns="54864" rIns="54864" bIns="54864"/>
          <a:lstStyle/>
          <a:p>
            <a:pPr algn="r"/>
            <a:r>
              <a:rPr lang="en-US" sz="1000">
                <a:solidFill>
                  <a:srgbClr val="6B7280"/>
                </a:solidFill>
                <a:latin typeface="Aptos"/>
              </a:rPr>
              <a:t>5/7</a:t>
            </a:r>
            <a:endParaRPr lang="en-US" sz="1000"/>
          </a:p>
        </p:txBody>
      </p:sp>
      <p:sp>
        <p:nvSpPr>
          <p:cNvPr id="6" name="TextBox 6"/>
          <p:cNvSpPr txBox="1"/>
          <p:nvPr/>
        </p:nvSpPr>
        <p:spPr>
          <a:xfrm>
            <a:off x="713232" y="950976"/>
            <a:ext cx="5349240" cy="4709160"/>
          </a:xfrm>
          <a:prstGeom prst="rect">
            <a:avLst/>
          </a:prstGeom>
          <a:noFill/>
          <a:ln>
            <a:noFill/>
          </a:ln>
        </p:spPr>
        <p:txBody>
          <a:bodyPr wrap="square" anchor="t" lIns="54864" tIns="54864" rIns="54864" bIns="54864"/>
          <a:lstStyle/>
          <a:p>
            <a:pPr algn="l"/>
            <a:r>
              <a:rPr lang="en-US" sz="1800">
                <a:solidFill>
                  <a:srgbClr val="1F2937"/>
                </a:solidFill>
                <a:latin typeface="Aptos"/>
              </a:rPr>
              <a:t>- Step 4 mean FinBERT gain over TF-IDF: +0.0063 AUC</a:t>
            </a:r>
            <a:endParaRPr lang="en-US" sz="1800"/>
          </a:p>
          <a:p>
            <a:pPr algn="l"/>
            <a:r>
              <a:rPr lang="en-US" sz="1800">
                <a:solidFill>
                  <a:srgbClr val="1F2937"/>
                </a:solidFill>
                <a:latin typeface="Aptos"/>
              </a:rPr>
              <a:t>- Mean SHAP sentiment attribution: 80.16%</a:t>
            </a:r>
            <a:endParaRPr lang="en-US" sz="1800"/>
          </a:p>
          <a:p>
            <a:pPr algn="l"/>
            <a:r>
              <a:rPr lang="en-US" sz="1800">
                <a:solidFill>
                  <a:srgbClr val="1F2937"/>
                </a:solidFill>
                <a:latin typeface="Aptos"/>
              </a:rPr>
              <a:t>- Best saved hybrid results: LMT v12 = 0.6036, GOOGL v13 = 0.5971</a:t>
            </a:r>
            <a:endParaRPr lang="en-US" sz="1800"/>
          </a:p>
          <a:p>
            <a:pPr algn="l"/>
            <a:r>
              <a:rPr lang="en-US" sz="1800">
                <a:solidFill>
                  <a:srgbClr val="1F2937"/>
                </a:solidFill>
                <a:latin typeface="Aptos"/>
              </a:rPr>
              <a:t>- Strongest standalone feature block so far: keywords-only mean AUC = 0.5564</a:t>
            </a:r>
            <a:endParaRPr lang="en-US" sz="1800"/>
          </a:p>
          <a:p>
            <a:pPr algn="l"/>
            <a:r>
              <a:rPr lang="en-US" sz="1800">
                <a:solidFill>
                  <a:srgbClr val="1F2937"/>
                </a:solidFill>
                <a:latin typeface="Aptos"/>
              </a:rPr>
              <a:t>- Takeaway: news contains signal, but fusion remains uneven across tickers</a:t>
            </a:r>
            <a:endParaRPr lang="en-US" sz="1800"/>
          </a:p>
        </p:txBody>
      </p:sp>
      <p:sp>
        <p:nvSpPr>
          <p:cNvPr id="7" name="Shape 7"/>
          <p:cNvSpPr/>
          <p:nvPr/>
        </p:nvSpPr>
        <p:spPr>
          <a:xfrm>
            <a:off x="6400800" y="1024128"/>
            <a:ext cx="5074920" cy="3950208"/>
          </a:xfrm>
          <a:prstGeom prst="rect">
            <a:avLst/>
          </a:prstGeom>
          <a:solidFill>
            <a:srgbClr val="F3F5F7"/>
          </a:solidFill>
          <a:ln w="12700">
            <a:solidFill>
              <a:srgbClr val="D0D7DE"/>
            </a:solidFill>
          </a:ln>
        </p:spPr>
        <p:txBody>
          <a:bodyPr/>
          <a:lstStyle/>
          <a:p/>
        </p:txBody>
      </p:sp>
      <p:pic>
        <p:nvPicPr>
          <p:cNvPr id="8" name="Picture 8"/>
          <p:cNvPicPr>
            <a:picLocks noChangeAspect="1"/>
          </p:cNvPicPr>
          <p:nvPr/>
        </p:nvPicPr>
        <p:blipFill>
          <a:blip r:embed="rId2"/>
          <a:stretch>
            <a:fillRect/>
          </a:stretch>
        </p:blipFill>
        <p:spPr>
          <a:xfrm>
            <a:off x="6473952" y="1599725"/>
            <a:ext cx="4928616" cy="2652710"/>
          </a:xfrm>
          <a:prstGeom prst="rect">
            <a:avLst/>
          </a:prstGeom>
          <a:ln w="12700">
            <a:solidFill>
              <a:srgbClr val="D0D7DE"/>
            </a:solidFill>
          </a:ln>
        </p:spPr>
      </p:pic>
      <p:sp>
        <p:nvSpPr>
          <p:cNvPr id="9" name="TextBox 9"/>
          <p:cNvSpPr txBox="1"/>
          <p:nvPr/>
        </p:nvSpPr>
        <p:spPr>
          <a:xfrm>
            <a:off x="6446520" y="5056632"/>
            <a:ext cx="4983480" cy="329184"/>
          </a:xfrm>
          <a:prstGeom prst="rect">
            <a:avLst/>
          </a:prstGeom>
          <a:noFill/>
          <a:ln>
            <a:noFill/>
          </a:ln>
        </p:spPr>
        <p:txBody>
          <a:bodyPr wrap="square" anchor="t" lIns="54864" tIns="54864" rIns="54864" bIns="54864"/>
          <a:lstStyle/>
          <a:p>
            <a:pPr algn="ctr"/>
            <a:r>
              <a:rPr lang="en-US" sz="1100">
                <a:solidFill>
                  <a:srgbClr val="6B7280"/>
                </a:solidFill>
                <a:latin typeface="Aptos"/>
              </a:rPr>
              <a:t>Tuned NLP battle across the 10-ticker universe</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2000" cy="566928"/>
          </a:xfrm>
          <a:prstGeom prst="rect">
            <a:avLst/>
          </a:prstGeom>
          <a:solidFill>
            <a:srgbClr val="0E2841"/>
          </a:solidFill>
          <a:ln>
            <a:noFill/>
          </a:ln>
        </p:spPr>
        <p:txBody>
          <a:bodyPr/>
          <a:lstStyle/>
          <a:p/>
        </p:txBody>
      </p:sp>
      <p:sp>
        <p:nvSpPr>
          <p:cNvPr id="3" name="Shape 3"/>
          <p:cNvSpPr/>
          <p:nvPr/>
        </p:nvSpPr>
        <p:spPr>
          <a:xfrm>
            <a:off x="0" y="566928"/>
            <a:ext cx="12192000" cy="54864"/>
          </a:xfrm>
          <a:prstGeom prst="rect">
            <a:avLst/>
          </a:prstGeom>
          <a:solidFill>
            <a:srgbClr val="156082"/>
          </a:solidFill>
          <a:ln>
            <a:noFill/>
          </a:ln>
        </p:spPr>
        <p:txBody>
          <a:bodyPr/>
          <a:lstStyle/>
          <a:p/>
        </p:txBody>
      </p:sp>
      <p:sp>
        <p:nvSpPr>
          <p:cNvPr id="4" name="TextBox 4"/>
          <p:cNvSpPr txBox="1"/>
          <p:nvPr/>
        </p:nvSpPr>
        <p:spPr>
          <a:xfrm>
            <a:off x="502920" y="109728"/>
            <a:ext cx="8046720" cy="329184"/>
          </a:xfrm>
          <a:prstGeom prst="rect">
            <a:avLst/>
          </a:prstGeom>
          <a:noFill/>
          <a:ln>
            <a:noFill/>
          </a:ln>
        </p:spPr>
        <p:txBody>
          <a:bodyPr wrap="square" anchor="t" lIns="54864" tIns="54864" rIns="54864" bIns="54864"/>
          <a:lstStyle/>
          <a:p>
            <a:pPr algn="l"/>
            <a:r>
              <a:rPr lang="en-US" sz="2600" b="1">
                <a:solidFill>
                  <a:srgbClr val="FFFFFF"/>
                </a:solidFill>
                <a:latin typeface="Aptos Display"/>
              </a:rPr>
              <a:t>What We Have Learned So Far</a:t>
            </a:r>
            <a:endParaRPr lang="en-US" sz="2600"/>
          </a:p>
        </p:txBody>
      </p:sp>
      <p:sp>
        <p:nvSpPr>
          <p:cNvPr id="5" name="TextBox 5"/>
          <p:cNvSpPr txBox="1"/>
          <p:nvPr/>
        </p:nvSpPr>
        <p:spPr>
          <a:xfrm>
            <a:off x="10881360" y="6455664"/>
            <a:ext cx="914400" cy="219456"/>
          </a:xfrm>
          <a:prstGeom prst="rect">
            <a:avLst/>
          </a:prstGeom>
          <a:noFill/>
          <a:ln>
            <a:noFill/>
          </a:ln>
        </p:spPr>
        <p:txBody>
          <a:bodyPr wrap="square" anchor="t" lIns="54864" tIns="54864" rIns="54864" bIns="54864"/>
          <a:lstStyle/>
          <a:p>
            <a:pPr algn="r"/>
            <a:r>
              <a:rPr lang="en-US" sz="1000">
                <a:solidFill>
                  <a:srgbClr val="6B7280"/>
                </a:solidFill>
                <a:latin typeface="Aptos"/>
              </a:rPr>
              <a:t>6/7</a:t>
            </a:r>
            <a:endParaRPr lang="en-US" sz="1000"/>
          </a:p>
        </p:txBody>
      </p:sp>
      <p:sp>
        <p:nvSpPr>
          <p:cNvPr id="6" name="TextBox 6"/>
          <p:cNvSpPr txBox="1"/>
          <p:nvPr/>
        </p:nvSpPr>
        <p:spPr>
          <a:xfrm>
            <a:off x="713232" y="950976"/>
            <a:ext cx="5349240" cy="4709160"/>
          </a:xfrm>
          <a:prstGeom prst="rect">
            <a:avLst/>
          </a:prstGeom>
          <a:noFill/>
          <a:ln>
            <a:noFill/>
          </a:ln>
        </p:spPr>
        <p:txBody>
          <a:bodyPr wrap="square" anchor="t" lIns="54864" tIns="54864" rIns="54864" bIns="54864"/>
          <a:lstStyle/>
          <a:p>
            <a:pPr algn="l"/>
            <a:r>
              <a:rPr lang="en-US" sz="1800">
                <a:solidFill>
                  <a:srgbClr val="1F2937"/>
                </a:solidFill>
                <a:latin typeface="Aptos"/>
              </a:rPr>
              <a:t>- v13 mean hybrid AUC = 0.5362</a:t>
            </a:r>
            <a:endParaRPr lang="en-US" sz="1800"/>
          </a:p>
          <a:p>
            <a:pPr algn="l"/>
            <a:r>
              <a:rPr lang="en-US" sz="1800">
                <a:solidFill>
                  <a:srgbClr val="1F2937"/>
                </a:solidFill>
                <a:latin typeface="Aptos"/>
              </a:rPr>
              <a:t>- Market-only = 0.5431; keywords-only = 0.5564</a:t>
            </a:r>
            <a:endParaRPr lang="en-US" sz="1800"/>
          </a:p>
          <a:p>
            <a:pPr algn="l"/>
            <a:r>
              <a:rPr lang="en-US" sz="1800">
                <a:solidFill>
                  <a:srgbClr val="1F2937"/>
                </a:solidFill>
                <a:latin typeface="Aptos"/>
              </a:rPr>
              <a:t>- Hybrid beats every single baseline for only one ticker: GOOGL</a:t>
            </a:r>
            <a:endParaRPr lang="en-US" sz="1800"/>
          </a:p>
          <a:p>
            <a:pPr algn="l"/>
            <a:r>
              <a:rPr lang="en-US" sz="1800">
                <a:solidFill>
                  <a:srgbClr val="1F2937"/>
                </a:solidFill>
                <a:latin typeface="Aptos"/>
              </a:rPr>
              <a:t>- LMT ablation: MLP 0.6782 &gt; RF 0.5923 &gt; XGBoost 0.5653</a:t>
            </a:r>
            <a:endParaRPr lang="en-US" sz="1800"/>
          </a:p>
          <a:p>
            <a:pPr algn="l"/>
            <a:r>
              <a:rPr lang="en-US" sz="1800">
                <a:solidFill>
                  <a:srgbClr val="1F2937"/>
                </a:solidFill>
                <a:latin typeface="Aptos"/>
              </a:rPr>
              <a:t>- Next shift: modular experts or deeper fusion models</a:t>
            </a:r>
            <a:endParaRPr lang="en-US" sz="1800"/>
          </a:p>
        </p:txBody>
      </p:sp>
      <p:sp>
        <p:nvSpPr>
          <p:cNvPr id="7" name="Shape 7"/>
          <p:cNvSpPr/>
          <p:nvPr/>
        </p:nvSpPr>
        <p:spPr>
          <a:xfrm>
            <a:off x="6400800" y="1024128"/>
            <a:ext cx="5074920" cy="3950208"/>
          </a:xfrm>
          <a:prstGeom prst="rect">
            <a:avLst/>
          </a:prstGeom>
          <a:solidFill>
            <a:srgbClr val="F3F5F7"/>
          </a:solidFill>
          <a:ln w="12700">
            <a:solidFill>
              <a:srgbClr val="D0D7DE"/>
            </a:solidFill>
          </a:ln>
        </p:spPr>
        <p:txBody>
          <a:bodyPr/>
          <a:lstStyle/>
          <a:p/>
        </p:txBody>
      </p:sp>
      <p:pic>
        <p:nvPicPr>
          <p:cNvPr id="8" name="Picture 8"/>
          <p:cNvPicPr>
            <a:picLocks noChangeAspect="1"/>
          </p:cNvPicPr>
          <p:nvPr/>
        </p:nvPicPr>
        <p:blipFill>
          <a:blip r:embed="rId2"/>
          <a:stretch>
            <a:fillRect/>
          </a:stretch>
        </p:blipFill>
        <p:spPr>
          <a:xfrm>
            <a:off x="7465273" y="1097280"/>
            <a:ext cx="2945974" cy="3657600"/>
          </a:xfrm>
          <a:prstGeom prst="rect">
            <a:avLst/>
          </a:prstGeom>
          <a:ln w="12700">
            <a:solidFill>
              <a:srgbClr val="D0D7DE"/>
            </a:solidFill>
          </a:ln>
        </p:spPr>
      </p:pic>
      <p:sp>
        <p:nvSpPr>
          <p:cNvPr id="9" name="TextBox 9"/>
          <p:cNvSpPr txBox="1"/>
          <p:nvPr/>
        </p:nvSpPr>
        <p:spPr>
          <a:xfrm>
            <a:off x="6446520" y="5056632"/>
            <a:ext cx="4983480" cy="329184"/>
          </a:xfrm>
          <a:prstGeom prst="rect">
            <a:avLst/>
          </a:prstGeom>
          <a:noFill/>
          <a:ln>
            <a:noFill/>
          </a:ln>
        </p:spPr>
        <p:txBody>
          <a:bodyPr wrap="square" anchor="t" lIns="54864" tIns="54864" rIns="54864" bIns="54864"/>
          <a:lstStyle/>
          <a:p>
            <a:pPr algn="ctr"/>
            <a:r>
              <a:rPr lang="en-US" sz="1100">
                <a:solidFill>
                  <a:srgbClr val="6B7280"/>
                </a:solidFill>
                <a:latin typeface="Aptos"/>
              </a:rPr>
              <a:t>LMT SHAP example from the tuned XGBoost path</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2000" cy="566928"/>
          </a:xfrm>
          <a:prstGeom prst="rect">
            <a:avLst/>
          </a:prstGeom>
          <a:solidFill>
            <a:srgbClr val="0E2841"/>
          </a:solidFill>
          <a:ln>
            <a:noFill/>
          </a:ln>
        </p:spPr>
        <p:txBody>
          <a:bodyPr/>
          <a:lstStyle/>
          <a:p/>
        </p:txBody>
      </p:sp>
      <p:sp>
        <p:nvSpPr>
          <p:cNvPr id="3" name="Shape 3"/>
          <p:cNvSpPr/>
          <p:nvPr/>
        </p:nvSpPr>
        <p:spPr>
          <a:xfrm>
            <a:off x="0" y="566928"/>
            <a:ext cx="12192000" cy="54864"/>
          </a:xfrm>
          <a:prstGeom prst="rect">
            <a:avLst/>
          </a:prstGeom>
          <a:solidFill>
            <a:srgbClr val="156082"/>
          </a:solidFill>
          <a:ln>
            <a:noFill/>
          </a:ln>
        </p:spPr>
        <p:txBody>
          <a:bodyPr/>
          <a:lstStyle/>
          <a:p/>
        </p:txBody>
      </p:sp>
      <p:sp>
        <p:nvSpPr>
          <p:cNvPr id="4" name="TextBox 4"/>
          <p:cNvSpPr txBox="1"/>
          <p:nvPr/>
        </p:nvSpPr>
        <p:spPr>
          <a:xfrm>
            <a:off x="502920" y="109728"/>
            <a:ext cx="8046720" cy="329184"/>
          </a:xfrm>
          <a:prstGeom prst="rect">
            <a:avLst/>
          </a:prstGeom>
          <a:noFill/>
          <a:ln>
            <a:noFill/>
          </a:ln>
        </p:spPr>
        <p:txBody>
          <a:bodyPr wrap="square" anchor="t" lIns="54864" tIns="54864" rIns="54864" bIns="54864"/>
          <a:lstStyle/>
          <a:p>
            <a:pPr algn="l"/>
            <a:r>
              <a:rPr lang="en-US" sz="2600" b="1">
                <a:solidFill>
                  <a:srgbClr val="FFFFFF"/>
                </a:solidFill>
                <a:latin typeface="Aptos Display"/>
              </a:rPr>
              <a:t>Expected Deliverables and Next Steps</a:t>
            </a:r>
            <a:endParaRPr lang="en-US" sz="2600"/>
          </a:p>
        </p:txBody>
      </p:sp>
      <p:sp>
        <p:nvSpPr>
          <p:cNvPr id="5" name="TextBox 5"/>
          <p:cNvSpPr txBox="1"/>
          <p:nvPr/>
        </p:nvSpPr>
        <p:spPr>
          <a:xfrm>
            <a:off x="10881360" y="6455664"/>
            <a:ext cx="914400" cy="219456"/>
          </a:xfrm>
          <a:prstGeom prst="rect">
            <a:avLst/>
          </a:prstGeom>
          <a:noFill/>
          <a:ln>
            <a:noFill/>
          </a:ln>
        </p:spPr>
        <p:txBody>
          <a:bodyPr wrap="square" anchor="t" lIns="54864" tIns="54864" rIns="54864" bIns="54864"/>
          <a:lstStyle/>
          <a:p>
            <a:pPr algn="r"/>
            <a:r>
              <a:rPr lang="en-US" sz="1000">
                <a:solidFill>
                  <a:srgbClr val="6B7280"/>
                </a:solidFill>
                <a:latin typeface="Aptos"/>
              </a:rPr>
              <a:t>7/7</a:t>
            </a:r>
            <a:endParaRPr lang="en-US" sz="1000"/>
          </a:p>
        </p:txBody>
      </p:sp>
      <p:sp>
        <p:nvSpPr>
          <p:cNvPr id="6" name="Shape 6"/>
          <p:cNvSpPr/>
          <p:nvPr/>
        </p:nvSpPr>
        <p:spPr>
          <a:xfrm>
            <a:off x="749808" y="987552"/>
            <a:ext cx="5074920" cy="4407408"/>
          </a:xfrm>
          <a:prstGeom prst="roundRect">
            <a:avLst/>
          </a:prstGeom>
          <a:solidFill>
            <a:srgbClr val="F3F5F7"/>
          </a:solidFill>
          <a:ln w="12700">
            <a:solidFill>
              <a:srgbClr val="D0D7DE"/>
            </a:solidFill>
          </a:ln>
        </p:spPr>
        <p:txBody>
          <a:bodyPr/>
          <a:lstStyle/>
          <a:p/>
        </p:txBody>
      </p:sp>
      <p:sp>
        <p:nvSpPr>
          <p:cNvPr id="7" name="Shape 7"/>
          <p:cNvSpPr/>
          <p:nvPr/>
        </p:nvSpPr>
        <p:spPr>
          <a:xfrm>
            <a:off x="6355080" y="987552"/>
            <a:ext cx="5074920" cy="4407408"/>
          </a:xfrm>
          <a:prstGeom prst="roundRect">
            <a:avLst/>
          </a:prstGeom>
          <a:solidFill>
            <a:srgbClr val="F3F5F7"/>
          </a:solidFill>
          <a:ln w="12700">
            <a:solidFill>
              <a:srgbClr val="D0D7DE"/>
            </a:solidFill>
          </a:ln>
        </p:spPr>
        <p:txBody>
          <a:bodyPr/>
          <a:lstStyle/>
          <a:p/>
        </p:txBody>
      </p:sp>
      <p:sp>
        <p:nvSpPr>
          <p:cNvPr id="8" name="Shape 8"/>
          <p:cNvSpPr/>
          <p:nvPr/>
        </p:nvSpPr>
        <p:spPr>
          <a:xfrm>
            <a:off x="932688" y="1143000"/>
            <a:ext cx="2148840" cy="384048"/>
          </a:xfrm>
          <a:prstGeom prst="roundRect">
            <a:avLst/>
          </a:prstGeom>
          <a:solidFill>
            <a:srgbClr val="156082"/>
          </a:solidFill>
          <a:ln>
            <a:noFill/>
          </a:ln>
        </p:spPr>
        <p:txBody>
          <a:bodyPr/>
          <a:lstStyle/>
          <a:p/>
        </p:txBody>
      </p:sp>
      <p:sp>
        <p:nvSpPr>
          <p:cNvPr id="9" name="Shape 9"/>
          <p:cNvSpPr/>
          <p:nvPr/>
        </p:nvSpPr>
        <p:spPr>
          <a:xfrm>
            <a:off x="6537960" y="1143000"/>
            <a:ext cx="1691640" cy="384048"/>
          </a:xfrm>
          <a:prstGeom prst="roundRect">
            <a:avLst/>
          </a:prstGeom>
          <a:solidFill>
            <a:srgbClr val="E97132"/>
          </a:solidFill>
          <a:ln>
            <a:noFill/>
          </a:ln>
        </p:spPr>
        <p:txBody>
          <a:bodyPr/>
          <a:lstStyle/>
          <a:p/>
        </p:txBody>
      </p:sp>
      <p:sp>
        <p:nvSpPr>
          <p:cNvPr id="10" name="TextBox 10"/>
          <p:cNvSpPr txBox="1"/>
          <p:nvPr/>
        </p:nvSpPr>
        <p:spPr>
          <a:xfrm>
            <a:off x="1024128" y="1188720"/>
            <a:ext cx="1965960" cy="237744"/>
          </a:xfrm>
          <a:prstGeom prst="rect">
            <a:avLst/>
          </a:prstGeom>
          <a:noFill/>
          <a:ln>
            <a:noFill/>
          </a:ln>
        </p:spPr>
        <p:txBody>
          <a:bodyPr wrap="square" anchor="t" lIns="54864" tIns="54864" rIns="54864" bIns="54864"/>
          <a:lstStyle/>
          <a:p>
            <a:pPr algn="ctr"/>
            <a:r>
              <a:rPr lang="en-US" sz="1400" b="1">
                <a:solidFill>
                  <a:srgbClr val="FFFFFF"/>
                </a:solidFill>
                <a:latin typeface="Aptos"/>
              </a:rPr>
              <a:t>Expected deliverables</a:t>
            </a:r>
            <a:endParaRPr lang="en-US" sz="1400"/>
          </a:p>
        </p:txBody>
      </p:sp>
      <p:sp>
        <p:nvSpPr>
          <p:cNvPr id="11" name="TextBox 11"/>
          <p:cNvSpPr txBox="1"/>
          <p:nvPr/>
        </p:nvSpPr>
        <p:spPr>
          <a:xfrm>
            <a:off x="6629400" y="1188720"/>
            <a:ext cx="1508760" cy="237744"/>
          </a:xfrm>
          <a:prstGeom prst="rect">
            <a:avLst/>
          </a:prstGeom>
          <a:noFill/>
          <a:ln>
            <a:noFill/>
          </a:ln>
        </p:spPr>
        <p:txBody>
          <a:bodyPr wrap="square" anchor="t" lIns="54864" tIns="54864" rIns="54864" bIns="54864"/>
          <a:lstStyle/>
          <a:p>
            <a:pPr algn="ctr"/>
            <a:r>
              <a:rPr lang="en-US" sz="1400" b="1">
                <a:solidFill>
                  <a:srgbClr val="FFFFFF"/>
                </a:solidFill>
                <a:latin typeface="Aptos"/>
              </a:rPr>
              <a:t>Next steps</a:t>
            </a:r>
            <a:endParaRPr lang="en-US" sz="1400"/>
          </a:p>
        </p:txBody>
      </p:sp>
      <p:sp>
        <p:nvSpPr>
          <p:cNvPr id="12" name="TextBox 12"/>
          <p:cNvSpPr txBox="1"/>
          <p:nvPr/>
        </p:nvSpPr>
        <p:spPr>
          <a:xfrm>
            <a:off x="960120" y="1664208"/>
            <a:ext cx="4617720" cy="3337560"/>
          </a:xfrm>
          <a:prstGeom prst="rect">
            <a:avLst/>
          </a:prstGeom>
          <a:noFill/>
          <a:ln>
            <a:noFill/>
          </a:ln>
        </p:spPr>
        <p:txBody>
          <a:bodyPr wrap="square" anchor="t" lIns="54864" tIns="54864" rIns="54864" bIns="54864"/>
          <a:lstStyle/>
          <a:p>
            <a:pPr algn="l"/>
            <a:r>
              <a:rPr lang="en-US" sz="1700">
                <a:solidFill>
                  <a:srgbClr val="1F2937"/>
                </a:solidFill>
                <a:latin typeface="Aptos"/>
              </a:rPr>
              <a:t>- Cleaned multimodal daily dataset</a:t>
            </a:r>
            <a:endParaRPr lang="en-US" sz="1700"/>
          </a:p>
          <a:p>
            <a:pPr algn="l"/>
            <a:r>
              <a:rPr lang="en-US" sz="1700">
                <a:solidFill>
                  <a:srgbClr val="1F2937"/>
                </a:solidFill>
                <a:latin typeface="Aptos"/>
              </a:rPr>
              <a:t>- Reproducible end-to-end Python pipeline</a:t>
            </a:r>
            <a:endParaRPr lang="en-US" sz="1700"/>
          </a:p>
          <a:p>
            <a:pPr algn="l"/>
            <a:r>
              <a:rPr lang="en-US" sz="1700">
                <a:solidFill>
                  <a:srgbClr val="1F2937"/>
                </a:solidFill>
                <a:latin typeface="Aptos"/>
              </a:rPr>
              <a:t>- Comparative model evaluation</a:t>
            </a:r>
            <a:endParaRPr lang="en-US" sz="1700"/>
          </a:p>
          <a:p>
            <a:pPr algn="l"/>
            <a:r>
              <a:rPr lang="en-US" sz="1700">
                <a:solidFill>
                  <a:srgbClr val="1F2937"/>
                </a:solidFill>
                <a:latin typeface="Aptos"/>
              </a:rPr>
              <a:t>- SHAP and ablation analysis</a:t>
            </a:r>
            <a:endParaRPr lang="en-US" sz="1700"/>
          </a:p>
          <a:p>
            <a:pPr algn="l"/>
            <a:r>
              <a:rPr lang="en-US" sz="1700">
                <a:solidFill>
                  <a:srgbClr val="1F2937"/>
                </a:solidFill>
                <a:latin typeface="Aptos"/>
              </a:rPr>
              <a:t>- Final report and final presentation</a:t>
            </a:r>
            <a:endParaRPr lang="en-US" sz="1700"/>
          </a:p>
        </p:txBody>
      </p:sp>
      <p:sp>
        <p:nvSpPr>
          <p:cNvPr id="13" name="TextBox 13"/>
          <p:cNvSpPr txBox="1"/>
          <p:nvPr/>
        </p:nvSpPr>
        <p:spPr>
          <a:xfrm>
            <a:off x="6565392" y="1664208"/>
            <a:ext cx="4617720" cy="3337560"/>
          </a:xfrm>
          <a:prstGeom prst="rect">
            <a:avLst/>
          </a:prstGeom>
          <a:noFill/>
          <a:ln>
            <a:noFill/>
          </a:ln>
        </p:spPr>
        <p:txBody>
          <a:bodyPr wrap="square" anchor="t" lIns="54864" tIns="54864" rIns="54864" bIns="54864"/>
          <a:lstStyle/>
          <a:p>
            <a:pPr algn="l"/>
            <a:r>
              <a:rPr lang="en-US" sz="1700">
                <a:solidFill>
                  <a:srgbClr val="1F2937"/>
                </a:solidFill>
                <a:latin typeface="Aptos"/>
              </a:rPr>
              <a:t>- Test a modular expert strategy by ticker type</a:t>
            </a:r>
            <a:endParaRPr lang="en-US" sz="1700"/>
          </a:p>
          <a:p>
            <a:pPr algn="l"/>
            <a:r>
              <a:rPr lang="en-US" sz="1700">
                <a:solidFill>
                  <a:srgbClr val="1F2937"/>
                </a:solidFill>
                <a:latin typeface="Aptos"/>
              </a:rPr>
              <a:t>- Improve fusion so hybrid beats market-only and keyword-only baselines</a:t>
            </a:r>
            <a:endParaRPr lang="en-US" sz="1700"/>
          </a:p>
          <a:p>
            <a:pPr algn="l"/>
            <a:r>
              <a:rPr lang="en-US" sz="1700">
                <a:solidFill>
                  <a:srgbClr val="1F2937"/>
                </a:solidFill>
                <a:latin typeface="Aptos"/>
              </a:rPr>
              <a:t>- Package artifacts into a final submission workflow</a:t>
            </a:r>
            <a:endParaRPr lang="en-US" sz="1700"/>
          </a:p>
          <a:p>
            <a:pPr algn="l"/>
            <a:r>
              <a:rPr lang="en-US" sz="1700">
                <a:solidFill>
                  <a:srgbClr val="1F2937"/>
                </a:solidFill>
                <a:latin typeface="Aptos"/>
              </a:rPr>
              <a:t>- Optional lightweight dashboard if time permits</a:t>
            </a:r>
            <a:endParaRPr lang="en-US" sz="1700"/>
          </a:p>
        </p:txBody>
      </p:sp>
      <p:sp>
        <p:nvSpPr>
          <p:cNvPr id="14" name="Shape 14"/>
          <p:cNvSpPr/>
          <p:nvPr/>
        </p:nvSpPr>
        <p:spPr>
          <a:xfrm>
            <a:off x="868680" y="5559552"/>
            <a:ext cx="10789920" cy="566928"/>
          </a:xfrm>
          <a:prstGeom prst="roundRect">
            <a:avLst/>
          </a:prstGeom>
          <a:solidFill>
            <a:srgbClr val="156082"/>
          </a:solidFill>
          <a:ln>
            <a:noFill/>
          </a:ln>
        </p:spPr>
        <p:txBody>
          <a:bodyPr/>
          <a:lstStyle/>
          <a:p/>
        </p:txBody>
      </p:sp>
      <p:sp>
        <p:nvSpPr>
          <p:cNvPr id="15" name="TextBox 15"/>
          <p:cNvSpPr txBox="1"/>
          <p:nvPr/>
        </p:nvSpPr>
        <p:spPr>
          <a:xfrm>
            <a:off x="1024128" y="5650992"/>
            <a:ext cx="10424160" cy="310896"/>
          </a:xfrm>
          <a:prstGeom prst="rect">
            <a:avLst/>
          </a:prstGeom>
          <a:noFill/>
          <a:ln>
            <a:noFill/>
          </a:ln>
        </p:spPr>
        <p:txBody>
          <a:bodyPr wrap="square" anchor="t" lIns="54864" tIns="54864" rIns="54864" bIns="54864"/>
          <a:lstStyle/>
          <a:p>
            <a:pPr algn="ctr"/>
            <a:r>
              <a:rPr lang="en-US" sz="1300" b="1">
                <a:solidFill>
                  <a:srgbClr val="FFFFFF"/>
                </a:solidFill>
                <a:latin typeface="Aptos"/>
              </a:rPr>
              <a:t>The project already shows measurable news signal; the final challenge is making the hybrid model stable and consistently better than simpler baselines.</a:t>
            </a:r>
            <a:endParaRPr lang="en-US" sz="1300"/>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Macintosh PowerPoint</Application>
  <PresentationFormat>Custom</PresentationFormat>
  <Slides>7</Slides>
  <Notes>7</Notes>
  <HiddenSlides>0</HiddenSlides>
  <MMClips>0</MMClips>
  <ScaleCrop>false</ScaleCrop>
  <HeadingPairs>
    <vt:vector size="2" baseType="variant">
      <vt:variant>
        <vt:lpstr>Slides</vt:lpstr>
      </vt:variant>
      <vt:variant>
        <vt:i4>7</vt:i4>
      </vt:variant>
    </vt:vector>
  </HeadingPairs>
  <TitlesOfParts>
    <vt:vector size="7" baseType="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ST545 Preliminary Presentation</dc:title>
  <dc:subject>StockMind preliminary project presentation</dc:subject>
  <dc:creator>OpenAI Codex</dc:creator>
  <cp:keywords>ST545, StockMind, presentation</cp:keywords>
  <dc:description>Preliminary project presentation for April 1, 2026.</dc:description>
  <cp:lastModifiedBy>OpenAI Codex</cp:lastModifiedBy>
  <dcterms:created xsi:type="dcterms:W3CDTF">2026-03-30T15:38:25Z</dcterms:created>
  <dcterms:modified xsi:type="dcterms:W3CDTF">2026-03-30T15:38:25Z</dcterms:modified>
</cp:coreProperties>
</file>